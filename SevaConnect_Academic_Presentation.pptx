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-1402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SevaConnect</a:t>
            </a:r>
          </a:p>
          <a:p>
            <a:r>
              <a:t>Healthcare Scheme AI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t>Voice &amp; Text AI Agent for Healthcare Scheme Access in India</a:t>
            </a:r>
          </a:p>
          <a:p>
            <a:r>
              <a:t>BITSoM – Product Management with Generative &amp; Agentic AI</a:t>
            </a:r>
          </a:p>
          <a:p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Last-mile information gap for PMJAY beneficiaries</a:t>
            </a:r>
          </a:p>
          <a:p>
            <a:pPr lvl="1"/>
            <a:r>
              <a:t>Target: 10.5M low-literacy, non-English speaking users</a:t>
            </a:r>
          </a:p>
          <a:p>
            <a:pPr lvl="1"/>
            <a:r>
              <a:t>Solution: Voice-first multilingual AI agent</a:t>
            </a:r>
          </a:p>
          <a:p>
            <a:pPr lvl="1"/>
            <a:r>
              <a:t>Architecture: RAG + LangChain + Human-in-the-loop</a:t>
            </a:r>
          </a:p>
          <a:p>
            <a:pPr lvl="1"/>
            <a:r>
              <a:t>Impact: Faster eligibility checks &amp; reduced OOP expenses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BPL families struggle to access healthcare entitlements</a:t>
            </a:r>
          </a:p>
          <a:p>
            <a:pPr lvl="1"/>
            <a:r>
              <a:t>Language &amp; literacy barriers</a:t>
            </a:r>
          </a:p>
          <a:p>
            <a:pPr lvl="1"/>
            <a:r>
              <a:t>Trust deficit due to middlemen (dalals)</a:t>
            </a:r>
          </a:p>
          <a:p>
            <a:pPr lvl="1"/>
            <a:r>
              <a:t>Confusion around eligibility &amp; documentation</a:t>
            </a:r>
          </a:p>
          <a:p>
            <a:pPr lvl="1"/>
            <a:r>
              <a:t>High out-of-pocket expenditure (~₹16,000 per hospitalization)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Primary User Persona – Ramesh Kumar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42-year-old farmer from Rural Bihar</a:t>
            </a:r>
          </a:p>
          <a:p>
            <a:pPr lvl="1"/>
            <a:r>
              <a:t>BPL household; low digital literacy</a:t>
            </a:r>
          </a:p>
          <a:p>
            <a:pPr lvl="1"/>
            <a:r>
              <a:t>Hindi speaker; limited English proficiency</a:t>
            </a:r>
          </a:p>
          <a:p>
            <a:pPr lvl="1"/>
            <a:r>
              <a:t>Shares smartphone; comfortable with voice calls</a:t>
            </a:r>
          </a:p>
          <a:p>
            <a:pPr lvl="1"/>
            <a:r>
              <a:t>Needs simple, trustworthy guidance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Jobs-To-Be-Done (JTBD)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Functional: Check eligibility &amp; find hospitals</a:t>
            </a:r>
          </a:p>
          <a:p>
            <a:pPr lvl="1"/>
            <a:r>
              <a:t>Emotional: Feel confident &amp; respected</a:t>
            </a:r>
          </a:p>
          <a:p>
            <a:pPr lvl="1"/>
            <a:r>
              <a:t>Social: Avoid embarrassment at hospital counter</a:t>
            </a:r>
          </a:p>
          <a:p>
            <a:pPr lvl="1"/>
            <a:r>
              <a:t>Core Job: Dignified access to healthcare entitlement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Voice-first AI in local languages</a:t>
            </a:r>
          </a:p>
          <a:p>
            <a:pPr lvl="1"/>
            <a:r>
              <a:t>Removes digital &amp; language complexity</a:t>
            </a:r>
          </a:p>
          <a:p>
            <a:pPr lvl="1"/>
            <a:r>
              <a:t>Verified government data (RAG-based retrieval)</a:t>
            </a:r>
          </a:p>
          <a:p>
            <a:pPr lvl="1"/>
            <a:r>
              <a:t>Instant guidance during medical emergencies</a:t>
            </a:r>
          </a:p>
          <a:p>
            <a:pPr lvl="1"/>
            <a:r>
              <a:t>24/7 availability without wait 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MVP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Voice eligibility checks</a:t>
            </a:r>
          </a:p>
          <a:p>
            <a:pPr lvl="1"/>
            <a:r>
              <a:t>Hospital locator (geo-based)</a:t>
            </a:r>
          </a:p>
          <a:p>
            <a:pPr lvl="1"/>
            <a:r>
              <a:t>Document checklist guidance</a:t>
            </a:r>
          </a:p>
          <a:p>
            <a:pPr lvl="1"/>
            <a:r>
              <a:t>SMS summaries for record keeping</a:t>
            </a:r>
          </a:p>
          <a:p>
            <a:pPr lvl="1"/>
            <a:r>
              <a:t>Grievance escalation to human agent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calls IVR / WhatsApp</a:t>
            </a:r>
          </a:p>
          <a:p>
            <a:pPr lvl="1"/>
            <a:r>
              <a:t>2. Language selection</a:t>
            </a:r>
          </a:p>
          <a:p>
            <a:pPr lvl="1"/>
            <a:r>
              <a:t>3. Intent recognition (Eligibility / Hospital / Docs)</a:t>
            </a:r>
          </a:p>
          <a:p>
            <a:pPr lvl="1"/>
            <a:r>
              <a:t>4. RAG-based rule verification</a:t>
            </a:r>
          </a:p>
          <a:p>
            <a:pPr lvl="1"/>
            <a:r>
              <a:t>5. Voice response + SMS summary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Router Agent: Classifies user intent</a:t>
            </a:r>
          </a:p>
          <a:p>
            <a:pPr lvl="1"/>
            <a:r>
              <a:t>Eligibility Agent: Queries scheme rules (RAG)</a:t>
            </a:r>
          </a:p>
          <a:p>
            <a:pPr lvl="1"/>
            <a:r>
              <a:t>Locator Agent: Geospatial hospital search</a:t>
            </a:r>
          </a:p>
          <a:p>
            <a:pPr lvl="1"/>
            <a:r>
              <a:t>Grievance Agent: Escalation workflow</a:t>
            </a:r>
          </a:p>
          <a:p>
            <a:pPr lvl="1"/>
            <a:r>
              <a:t>LangChain Orchestration Layer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WhatsApp Business API, Android App, IVR (Exotel)</a:t>
            </a:r>
          </a:p>
          <a:p>
            <a:pPr lvl="1"/>
            <a:r>
              <a:t>Voice Layer: Bhashini API, Google Speech (backup)</a:t>
            </a:r>
          </a:p>
          <a:p>
            <a:pPr lvl="1"/>
            <a:r>
              <a:t>Intelligence: GPT-4 + Pinecone (Vector DB)</a:t>
            </a:r>
          </a:p>
          <a:p>
            <a:pPr lvl="1"/>
            <a:r>
              <a:t>Backend: FastAPI + PostgreSQL</a:t>
            </a:r>
          </a:p>
          <a:p>
            <a:pPr lvl="1"/>
            <a:r>
              <a:t>Infrastructure: AWS / GCP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Implementation – RAG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Ingestion: PMJAY rules chunked &amp; embedded</a:t>
            </a:r>
          </a:p>
          <a:p>
            <a:pPr lvl="1"/>
            <a:r>
              <a:t>2. Retrieval: Relevant rule chunks fetched</a:t>
            </a:r>
          </a:p>
          <a:p>
            <a:pPr lvl="1"/>
            <a:r>
              <a:t>3. Generation: GPT synthesizes grounded response</a:t>
            </a:r>
          </a:p>
          <a:p>
            <a:pPr lvl="1"/>
            <a:r>
              <a:t>4. Strict prompt control to avoid hallucinations</a:t>
            </a:r>
          </a:p>
          <a:p>
            <a:pPr lvl="1"/>
            <a:r>
              <a:t>5. Confidence-based fallback to human agent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&amp; Regulatory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DPDP Act 2023 compliance</a:t>
            </a:r>
          </a:p>
          <a:p>
            <a:pPr lvl="1"/>
            <a:r>
              <a:t>No medical diagnosis or financial advice</a:t>
            </a:r>
          </a:p>
          <a:p>
            <a:pPr lvl="1"/>
            <a:r>
              <a:t>Human-in-the-loop for low confidence responses</a:t>
            </a:r>
          </a:p>
          <a:p>
            <a:pPr lvl="1"/>
            <a:r>
              <a:t>Session disclaimers for verification</a:t>
            </a:r>
          </a:p>
          <a:p>
            <a:pPr lvl="1"/>
            <a:r>
              <a:t>Secure user log storage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500M+ PMJAY beneficiaries</a:t>
            </a:r>
          </a:p>
          <a:p>
            <a:pPr lvl="1"/>
            <a:r>
              <a:t>Initial SAM: 10.5M Hindi-speaking low-literacy users</a:t>
            </a:r>
          </a:p>
          <a:p>
            <a:pPr lvl="1"/>
            <a:r>
              <a:t>High unmet demand (helpline congestion)</a:t>
            </a:r>
          </a:p>
          <a:p>
            <a:pPr lvl="1"/>
            <a:r>
              <a:t>Strong NGO &amp; CSR collaboration potential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B2G: State Health Society partnerships</a:t>
            </a:r>
          </a:p>
          <a:p>
            <a:pPr lvl="1"/>
            <a:r>
              <a:t>CSR Grants for pilot implementation</a:t>
            </a:r>
          </a:p>
          <a:p>
            <a:pPr lvl="1"/>
            <a:r>
              <a:t>NGO SaaS Licensing (₹2–3 lakh/district/year)</a:t>
            </a:r>
          </a:p>
          <a:p>
            <a:pPr lvl="1"/>
            <a:r>
              <a:t>Projected funding target: ₹50L+ Year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Setup Cost: ₹80K – ₹1.6L</a:t>
            </a:r>
          </a:p>
          <a:p>
            <a:pPr lvl="1"/>
            <a:r>
              <a:t>LLM &amp; Cloud: ₹25K – ₹50K per month</a:t>
            </a:r>
          </a:p>
          <a:p>
            <a:pPr lvl="1"/>
            <a:r>
              <a:t>Telephony: ₹0.50 – ₹1 per interaction</a:t>
            </a:r>
          </a:p>
          <a:p>
            <a:pPr lvl="1"/>
            <a:r>
              <a:t>Core team of 3 sufficient for MVP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Vs Portals: Voice-first, dialect support</a:t>
            </a:r>
          </a:p>
          <a:p>
            <a:pPr lvl="1"/>
            <a:r>
              <a:t>Vs Helplines: 24/7 zero wait time</a:t>
            </a:r>
          </a:p>
          <a:p>
            <a:pPr lvl="1"/>
            <a:r>
              <a:t>Vs Local Agents: Free &amp; verified data</a:t>
            </a:r>
          </a:p>
          <a:p>
            <a:pPr lvl="1"/>
            <a:r>
              <a:t>Personalized conversational guidance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Task Success Rate: &gt;85%</a:t>
            </a:r>
          </a:p>
          <a:p>
            <a:pPr lvl="1"/>
            <a:r>
              <a:t>Intent Accuracy: &gt;92%</a:t>
            </a:r>
          </a:p>
          <a:p>
            <a:pPr lvl="1"/>
            <a:r>
              <a:t>Latency: &lt;5 seconds</a:t>
            </a:r>
          </a:p>
          <a:p>
            <a:pPr lvl="1"/>
            <a:r>
              <a:t>NPS Target: 70+</a:t>
            </a:r>
          </a:p>
          <a:p>
            <a:pPr lvl="1"/>
            <a:r>
              <a:t>Retention: 40% within 7 days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Pilot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8-week MVP development timeline</a:t>
            </a:r>
          </a:p>
          <a:p>
            <a:pPr lvl="1"/>
            <a:r>
              <a:t>Pilot with 50 users via NGO partner</a:t>
            </a:r>
          </a:p>
          <a:p>
            <a:pPr lvl="1"/>
            <a:r>
              <a:t>Refinement of prompts &amp; workflows</a:t>
            </a:r>
          </a:p>
          <a:p>
            <a:pPr lvl="1"/>
            <a:r>
              <a:t>Phase 2: Multi-language expansion</a:t>
            </a:r>
          </a:p>
          <a:p>
            <a:pPr lvl="1"/>
            <a:r>
              <a:t>Phase 3: State-wide deployment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User: Ramesh Kumar (Bihar)</a:t>
            </a:r>
          </a:p>
          <a:p>
            <a:pPr lvl="1"/>
            <a:r>
              <a:t>Query: Heart surgery coverage</a:t>
            </a:r>
          </a:p>
          <a:p>
            <a:pPr lvl="1"/>
            <a:r>
              <a:t>AI verifies PMJAY cardiology coverage</a:t>
            </a:r>
          </a:p>
          <a:p>
            <a:pPr lvl="1"/>
            <a:r>
              <a:t>Hospital located: AIIMS Patna</a:t>
            </a:r>
          </a:p>
          <a:p>
            <a:pPr lvl="1"/>
            <a:r>
              <a:t>SMS with address &amp; checklist sent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Bridging the entitlement-access gap</a:t>
            </a:r>
          </a:p>
          <a:p>
            <a:pPr lvl="1"/>
            <a:r>
              <a:t>Voice-first AI for inclusive healthcare access</a:t>
            </a:r>
          </a:p>
          <a:p>
            <a:pPr lvl="1"/>
            <a:r>
              <a:t>Scalable, compliant, and socially impactful solution</a:t>
            </a:r>
          </a:p>
          <a:p>
            <a:pPr lvl="1"/>
            <a:r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Custom 2">
      <a:majorFont>
        <a:latin typeface="Montserrat Bold"/>
        <a:ea typeface=""/>
        <a:cs typeface="#003366"/>
      </a:majorFont>
      <a:minorFont>
        <a:latin typeface="Open Sans Regular"/>
        <a:ea typeface=""/>
        <a:cs typeface="#333333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8</TotalTime>
  <Words>637</Words>
  <Application>Microsoft Macintosh PowerPoint</Application>
  <PresentationFormat>On-screen Show (4:3)</PresentationFormat>
  <Paragraphs>113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Flow</vt:lpstr>
      <vt:lpstr>SevaConnect Healthcare Scheme AI Assistant</vt:lpstr>
      <vt:lpstr>Executive Summary</vt:lpstr>
      <vt:lpstr>Problem Statement</vt:lpstr>
      <vt:lpstr>Primary User Persona – Ramesh Kumar</vt:lpstr>
      <vt:lpstr>Jobs-To-Be-Done (JTBD)</vt:lpstr>
      <vt:lpstr>Value Proposition</vt:lpstr>
      <vt:lpstr>MVP Scope</vt:lpstr>
      <vt:lpstr>User Flow</vt:lpstr>
      <vt:lpstr>Agent Architecture</vt:lpstr>
      <vt:lpstr>Technology Stack</vt:lpstr>
      <vt:lpstr>AI Implementation – RAG Architecture</vt:lpstr>
      <vt:lpstr>Safety &amp; Regulatory Compliance</vt:lpstr>
      <vt:lpstr>Market Opportunity</vt:lpstr>
      <vt:lpstr>Business Model</vt:lpstr>
      <vt:lpstr>Cost Structure</vt:lpstr>
      <vt:lpstr>Competitive Advantage</vt:lpstr>
      <vt:lpstr>Success Metrics</vt:lpstr>
      <vt:lpstr>Pilot &amp; Roadmap</vt:lpstr>
      <vt:lpstr>Demo Scenario</vt:lpstr>
      <vt:lpstr>Conclusion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SevaConnect Healthcare Scheme AI Assistant</dc:title>
  <dc:subject/>
  <dc:creator/>
  <cp:keywords/>
  <dc:description>generated using python-pptx</dc:description>
  <cp:lastModifiedBy>Koyel Manal</cp:lastModifiedBy>
  <cp:revision>2</cp:revision>
  <dcterms:created xsi:type="dcterms:W3CDTF">2013-01-27T09:14:16Z</dcterms:created>
  <dcterms:modified xsi:type="dcterms:W3CDTF">2026-02-28T09:32:44Z</dcterms:modified>
  <cp:category/>
</cp:coreProperties>
</file>